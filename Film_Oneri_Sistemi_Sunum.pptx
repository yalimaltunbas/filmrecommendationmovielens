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25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15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E7A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Graf Tabanlı Film Öneri Sistemi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Graph Theory Dersi Projesi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017520"/>
            <a:ext cx="1828800" cy="4572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MovieLens Veri Seti ile Bipartite ve Monopartite Graf Analizi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Personalized PageRank ve Link Prediction Algoritmaları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İçindekiler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</a:rPr>
              <a:t>Giriş ve Proje Amacı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20040" cy="32004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09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</a:rPr>
              <a:t>Veri Seti: MovieLens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2128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</a:rPr>
              <a:t>Metodoloji: Graf Yapıları ve Algoritmalar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20040" cy="32004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</a:rPr>
              <a:t>Uygulama Süreci ve Karşılaşılan Zorluklar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320040" cy="32004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2186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</a:rPr>
              <a:t>Sonuçlar ve Graf Analizi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320040" cy="32004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721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</a:rPr>
              <a:t>Görselleştirme ve Değerlendirme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Proje Amacı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685800"/>
          </a:xfrm>
          <a:prstGeom prst="rect">
            <a:avLst/>
          </a:prstGeom>
          <a:solidFill>
            <a:srgbClr val="F5F7FA"/>
          </a:solidFill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685800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D"/>
                </a:solidFill>
              </a:rPr>
              <a:t>Graf teorisi kavramlarını kullanarak bir film öneri sistemi geliştirmek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023360" cy="685800"/>
          </a:xfrm>
          <a:prstGeom prst="rect">
            <a:avLst/>
          </a:prstGeom>
          <a:solidFill>
            <a:srgbClr val="F5F7FA"/>
          </a:solidFill>
          <a:ln w="254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4864" cy="68580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D"/>
                </a:solidFill>
              </a:rPr>
              <a:t>Kullanıcı-film etkileşimlerini bipartite graf yapısında modellemek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023360" cy="685800"/>
          </a:xfrm>
          <a:prstGeom prst="rect">
            <a:avLst/>
          </a:prstGeom>
          <a:solidFill>
            <a:srgbClr val="F5F7FA"/>
          </a:solidFill>
          <a:ln w="25400">
            <a:solidFill>
              <a:srgbClr val="7AB8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4864" cy="685800"/>
          </a:xfrm>
          <a:prstGeom prst="rect">
            <a:avLst/>
          </a:prstGeom>
          <a:solidFill>
            <a:srgbClr val="7AB8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D"/>
                </a:solidFill>
              </a:rPr>
              <a:t>Monopartite projeksiyon ile film-film benzerlik ağı oluşturmak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023360" cy="685800"/>
          </a:xfrm>
          <a:prstGeom prst="rect">
            <a:avLst/>
          </a:prstGeom>
          <a:solidFill>
            <a:srgbClr val="F5F7FA"/>
          </a:solidFill>
          <a:ln w="25400">
            <a:solidFill>
              <a:srgbClr val="E07B5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54864" cy="685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937760" y="11430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D"/>
                </a:solidFill>
              </a:rPr>
              <a:t>Personalized PageRank algoritması ile öneri üretmek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74520"/>
            <a:ext cx="4023360" cy="685800"/>
          </a:xfrm>
          <a:prstGeom prst="rect">
            <a:avLst/>
          </a:prstGeom>
          <a:solidFill>
            <a:srgbClr val="F5F7FA"/>
          </a:solidFill>
          <a:ln w="254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754880" y="1874520"/>
            <a:ext cx="54864" cy="6858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D"/>
                </a:solidFill>
              </a:rPr>
              <a:t>Link Prediction metrikleri ile benzerlik hesaplamak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4023360" cy="685800"/>
          </a:xfrm>
          <a:prstGeom prst="rect">
            <a:avLst/>
          </a:prstGeom>
          <a:solidFill>
            <a:srgbClr val="F5F7FA"/>
          </a:solidFill>
          <a:ln w="25400">
            <a:solidFill>
              <a:srgbClr val="1E4E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754880" y="2651760"/>
            <a:ext cx="54864" cy="685800"/>
          </a:xfrm>
          <a:prstGeom prst="rect">
            <a:avLst/>
          </a:prstGeom>
          <a:solidFill>
            <a:srgbClr val="1E4E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937760" y="2697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D"/>
                </a:solidFill>
              </a:rPr>
              <a:t>Gephi ile graf görselleştirme ve analiz yapmak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Veri Seti: MovieLens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7A"/>
                </a:solidFill>
              </a:rPr>
              <a:t>Neden MovieLens?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09728" cy="109728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</a:rPr>
              <a:t>Temiz ve iyi dokümante edilmiş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09728" cy="109728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</a:rPr>
              <a:t>Akademik projelerde yaygın kullanım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09728" cy="109728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</a:rPr>
              <a:t>Graf analizi için uygun boyut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09728" cy="109728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</a:rPr>
              <a:t>Ücretsiz erişilebilirlik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7A"/>
                </a:solidFill>
              </a:rPr>
              <a:t>Veri Seti İstatistikleri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Özellik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Değer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Toplam Rating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4B5"/>
                          </a:solidFill>
                        </a:rPr>
                        <a:t>100,836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Kullanıcı Sayısı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4B5"/>
                          </a:solidFill>
                        </a:rPr>
                        <a:t>610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Film Sayısı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4B5"/>
                          </a:solidFill>
                        </a:rPr>
                        <a:t>9,724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Rating Aralığı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4B5"/>
                          </a:solidFill>
                        </a:rPr>
                        <a:t>0.5 - 5.0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Ortalama Rating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4B5"/>
                          </a:solidFill>
                        </a:rPr>
                        <a:t>3.50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Graf Yapıları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E7A"/>
                </a:solidFill>
              </a:rPr>
              <a:t>Bipartite Graf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</a:rPr>
              <a:t>İki farklı düğüm kümesi: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</a:rPr>
              <a:t>Kullanıcılar ve Filmler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200400" cy="36576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Düğümler: 10,334 (610 + 9,724)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3200400" cy="36576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Kenarlar: 61,716 (rating ≥ 3.5)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3200400" cy="36576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Yoğunluk: 0.001156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2E74B5"/>
                </a:solidFill>
              </a:rPr>
              <a:t>→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3840480" cy="2560320"/>
          </a:xfrm>
          <a:prstGeom prst="roundRect">
            <a:avLst/>
          </a:prstGeom>
          <a:solidFill>
            <a:srgbClr val="E8F4FC"/>
          </a:solidFill>
          <a:ln w="254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02920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E7A"/>
                </a:solidFill>
              </a:rPr>
              <a:t>Monopartite Projeksiyon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600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</a:rPr>
              <a:t>Sadece Filmler - ortak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</a:rPr>
              <a:t>kullanıcıya göre bağlantı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194560"/>
            <a:ext cx="3474720" cy="36576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12064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Düğümler: 2,353 film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2606040"/>
            <a:ext cx="3474720" cy="36576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12064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Kenarlar: 369,569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3017520"/>
            <a:ext cx="3474720" cy="36576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120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Yoğunluk: 0.133557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D"/>
                </a:solidFill>
              </a:rPr>
              <a:t>Kenar ağırlığı = ortak kullanıcı sayısı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Öneri Algoritmaları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560320"/>
          </a:xfrm>
          <a:prstGeom prst="roundRect">
            <a:avLst/>
          </a:prstGeom>
          <a:solidFill>
            <a:srgbClr val="1E4E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Personalized PageRank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66160" cy="548640"/>
          </a:xfrm>
          <a:prstGeom prst="roundRect">
            <a:avLst/>
          </a:prstGeom>
          <a:solidFill>
            <a:srgbClr val="3D6A9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Nasıl çalışır?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Seed filmlerden random walk simülasyonu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3566160" cy="548640"/>
          </a:xfrm>
          <a:prstGeom prst="roundRect">
            <a:avLst/>
          </a:prstGeom>
          <a:solidFill>
            <a:srgbClr val="3D6A9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Alpha (damping): 0.85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%15 olasılıkla başlangıca dönüş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3566160" cy="548640"/>
          </a:xfrm>
          <a:prstGeom prst="roundRect">
            <a:avLst/>
          </a:prstGeom>
          <a:solidFill>
            <a:srgbClr val="3D6A9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Çıktı: Her filme önem skoru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Yüksek skor = güçlü öneri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4114800" cy="2560320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75488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E7A"/>
                </a:solidFill>
              </a:rPr>
              <a:t>Link Prediction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3749040" cy="5486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54864" cy="548640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937760" y="1719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D"/>
                </a:solidFill>
              </a:rPr>
              <a:t>Common Neighbors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965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</a:rPr>
              <a:t>Ortak komşu sayısı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331720"/>
            <a:ext cx="3749040" cy="5486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54864" cy="54864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937760" y="2359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D"/>
                </a:solidFill>
              </a:rPr>
              <a:t>Jaccard Coefficient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</a:rPr>
              <a:t>Ortak / Toplam komşu oranı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3749040" cy="5486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54864" cy="548640"/>
          </a:xfrm>
          <a:prstGeom prst="rect">
            <a:avLst/>
          </a:prstGeom>
          <a:solidFill>
            <a:srgbClr val="7AB8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937760" y="2999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D"/>
                </a:solidFill>
              </a:rPr>
              <a:t>Adamic-Adar Index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246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</a:rPr>
              <a:t>Düşük dereceli komşulara fazla ağırlık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Problem: Büyük Graf ile Görselleştirme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097280"/>
          </a:xfrm>
          <a:prstGeom prst="round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❌ Problem: Çok Fazla Kenar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Graf: 2,353 düğüm, 369,569 kenar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ForceAtlas 2 ile 5-6 saat beklendi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Gephi dondu, sonuç alınamadı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931920" cy="914400"/>
          </a:xfrm>
          <a:prstGeom prst="round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73152" cy="914400"/>
          </a:xfrm>
          <a:prstGeom prst="rect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F00"/>
                </a:solidFill>
              </a:rPr>
              <a:t>⚠️ Sebep: Yüksek Yoğunluk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Density: 0.133 - çok yoğun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Herkes herkesle bağlı, kümeler oluşmuyor</a:t>
            </a:r>
            <a:endParaRPr lang="en-US" sz="1000" dirty="0"/>
          </a:p>
        </p:txBody>
      </p:sp>
      <p:pic>
        <p:nvPicPr>
          <p:cNvPr id="12" name="Image 0" descr="/home/claude/slides/img_gephi_froz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05840"/>
            <a:ext cx="4114800" cy="2560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B7D"/>
                </a:solidFill>
              </a:rPr>
              <a:t>Gephi kilitlendi - ForceAtlas 2 çalışıyor ama sonuç yok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Çözüm: Graf Optimizasyonu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37744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237744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 Uygulanan Optimizasyonlar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D"/>
                </a:solidFill>
              </a:rPr>
              <a:t>1. Top N Film Seçimi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D"/>
                </a:solidFill>
              </a:rPr>
              <a:t>Sadece en popüler 250 film seçildi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D"/>
                </a:solidFill>
              </a:rPr>
              <a:t>2. Minimum Ortak Kullanıcı Eşiği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D"/>
                </a:solidFill>
              </a:rPr>
              <a:t>min_common_users = 30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7D"/>
                </a:solidFill>
              </a:rPr>
              <a:t>En az 30 ortak kullanıcı olmalı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3566160" cy="50292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</a:rPr>
              <a:t>Sonuç: 250 düğüm, 9,073 kenar</a:t>
            </a:r>
            <a:endParaRPr lang="en-US" sz="1200" dirty="0"/>
          </a:p>
        </p:txBody>
      </p:sp>
      <p:pic>
        <p:nvPicPr>
          <p:cNvPr id="13" name="Image 0" descr="/home/claude/slides/img_gephi_optim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05840"/>
            <a:ext cx="4114800" cy="2560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B7D"/>
                </a:solidFill>
              </a:rPr>
              <a:t>Optimize graf: 250 düğüm, 9,073 kenar, Modularity: 0.123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Gephi Görselleştirme Adımları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600200" cy="1463040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365760" cy="36576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E7A"/>
                </a:solidFill>
              </a:rPr>
              <a:t>ForceAtlas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D"/>
                </a:solidFill>
              </a:rPr>
              <a:t>Fizik simülasyonu ile düğüm yerleşimi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097280"/>
            <a:ext cx="1600200" cy="1463040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560320" y="1234440"/>
            <a:ext cx="365760" cy="36576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56032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1691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E7A"/>
                </a:solidFill>
              </a:rPr>
              <a:t>Noverlap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0116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D"/>
                </a:solidFill>
              </a:rPr>
              <a:t>Üst üste binmeyi önleme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1097280"/>
            <a:ext cx="1600200" cy="1463040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297680" y="1234440"/>
            <a:ext cx="365760" cy="36576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2976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1691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E7A"/>
                </a:solidFill>
              </a:rPr>
              <a:t>Düğüm Boyutu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20116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D"/>
                </a:solidFill>
              </a:rPr>
              <a:t>Degree'ye göre (10-50)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1097280"/>
            <a:ext cx="1600200" cy="1463040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035040" y="1234440"/>
            <a:ext cx="365760" cy="36576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03504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1691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E7A"/>
                </a:solidFill>
              </a:rPr>
              <a:t>Modularity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20116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D"/>
                </a:solidFill>
              </a:rPr>
              <a:t>Topluluk tespiti (3 küme)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1097280"/>
            <a:ext cx="1600200" cy="1463040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7772400" y="1234440"/>
            <a:ext cx="365760" cy="36576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7724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1691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E7A"/>
                </a:solidFill>
              </a:rPr>
              <a:t>Renklendirme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20116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D"/>
                </a:solidFill>
              </a:rPr>
              <a:t>Modularity Class'a göre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7A"/>
                </a:solidFill>
              </a:rPr>
              <a:t>Öncesi vs Sonrası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Büyük Graf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Optimize Graf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Düğüm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2,353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3A047"/>
                          </a:solidFill>
                        </a:rPr>
                        <a:t>250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Kenar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369,569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3A047"/>
                          </a:solidFill>
                        </a:rPr>
                        <a:t>9,073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İşlem Süresi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5-6 saat (tamamlanamadı)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3A047"/>
                          </a:solidFill>
                        </a:rPr>
                        <a:t>~5 dakika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Graf Metrikleri ve Analiz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Değer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Düğüm Sayısı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</a:rPr>
                        <a:t>2,353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Kenar Sayısı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</a:rPr>
                        <a:t>369,569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Ortalama Derece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</a:rPr>
                        <a:t>314.13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Maksimum Derece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</a:rPr>
                        <a:t>1,853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Çap (Diameter)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Ort. En Kısa Yol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</a:rPr>
                        <a:t>1.92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Kümeleme Katsayısı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</a:rPr>
                        <a:t>0.8528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051560"/>
            <a:ext cx="4114800" cy="59436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3"/>
          <p:cNvSpPr/>
          <p:nvPr/>
        </p:nvSpPr>
        <p:spPr>
          <a:xfrm>
            <a:off x="4572000" y="1051560"/>
            <a:ext cx="54864" cy="59436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470916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D"/>
                </a:solidFill>
              </a:rPr>
              <a:t>Kümeleme: 0.85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0916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</a:rPr>
              <a:t>Çok yüksek! Filmler güçlü kümeler oluşturuyor.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0" y="1737360"/>
            <a:ext cx="4114800" cy="594360"/>
          </a:xfrm>
          <a:prstGeom prst="round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572000" y="1737360"/>
            <a:ext cx="54864" cy="59436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8"/>
          <p:cNvSpPr/>
          <p:nvPr/>
        </p:nvSpPr>
        <p:spPr>
          <a:xfrm>
            <a:off x="470916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D"/>
                </a:solidFill>
              </a:rPr>
              <a:t>Ort. Yol: 1.92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0916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</a:rPr>
              <a:t>Small World özelliği. Her film 2 adımda ulaşılabilir.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0" y="2423160"/>
            <a:ext cx="4114800" cy="594360"/>
          </a:xfrm>
          <a:prstGeom prst="round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4572000" y="2423160"/>
            <a:ext cx="54864" cy="594360"/>
          </a:xfrm>
          <a:prstGeom prst="rect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470916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D"/>
                </a:solidFill>
              </a:rPr>
              <a:t>Çap: 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0916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</a:rPr>
              <a:t>En uzak iki film bile max 4 adımda bağlı.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0" y="3108960"/>
            <a:ext cx="4114800" cy="594360"/>
          </a:xfrm>
          <a:prstGeom prst="round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4572000" y="3108960"/>
            <a:ext cx="54864" cy="594360"/>
          </a:xfrm>
          <a:prstGeom prst="rect">
            <a:avLst/>
          </a:prstGeom>
          <a:solidFill>
            <a:srgbClr val="8E24A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470916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D"/>
                </a:solidFill>
              </a:rPr>
              <a:t>Modularity: 0.123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0916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D"/>
                </a:solidFill>
              </a:rPr>
              <a:t>3 farklı film topluluğu tespit edildi.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En Popüler Filmler (Yüksek Derece)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475488"/>
          </a:xfrm>
          <a:prstGeom prst="round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320040" cy="32004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Silence of the Lambs (1991)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1143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4B5"/>
                </a:solidFill>
              </a:rPr>
              <a:t>1,853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4114800" cy="475488"/>
          </a:xfrm>
          <a:prstGeom prst="round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320040" cy="32004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Matrix, The (1999)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1691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4B5"/>
                </a:solidFill>
              </a:rPr>
              <a:t>1,848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4114800" cy="475488"/>
          </a:xfrm>
          <a:prstGeom prst="roundRect">
            <a:avLst/>
          </a:prstGeom>
          <a:solidFill>
            <a:srgbClr val="CD7F3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48640" y="2212848"/>
            <a:ext cx="320040" cy="320040"/>
          </a:xfrm>
          <a:prstGeom prst="ellipse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48640" y="2212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Pulp Fiction (1994)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2240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4B5"/>
                </a:solidFill>
              </a:rPr>
              <a:t>1,844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4114800" cy="475488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548640" y="2761488"/>
            <a:ext cx="320040" cy="32004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48640" y="2761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788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Star Wars: Episode IV (1977)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49040" y="2788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4B5"/>
                </a:solidFill>
              </a:rPr>
              <a:t>1,828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4114800" cy="475488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320040" cy="32004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48640" y="3310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Forrest Gump (1994)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9040" y="3337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4B5"/>
                </a:solidFill>
              </a:rPr>
              <a:t>1,828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051560"/>
            <a:ext cx="4114800" cy="475488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937760" y="1115568"/>
            <a:ext cx="320040" cy="32004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937760" y="1115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Shawshank Redemption (1994)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38160" y="1143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4B5"/>
                </a:solidFill>
              </a:rPr>
              <a:t>1,790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1600200"/>
            <a:ext cx="4114800" cy="475488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4937760" y="1664208"/>
            <a:ext cx="320040" cy="32004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937760" y="1664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4924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Raiders of the Lost Ark (1981)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138160" y="1691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4B5"/>
                </a:solidFill>
              </a:rPr>
              <a:t>1,779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2148840"/>
            <a:ext cx="4114800" cy="475488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4937760" y="2212848"/>
            <a:ext cx="320040" cy="32004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4937760" y="2212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4924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Star Wars: Episode V (1980)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38160" y="2240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4B5"/>
                </a:solidFill>
              </a:rPr>
              <a:t>1,731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2697480"/>
            <a:ext cx="4114800" cy="475488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4937760" y="2761488"/>
            <a:ext cx="320040" cy="32004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4937760" y="2761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49240" y="2788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Fight Club (1999)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38160" y="2788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4B5"/>
                </a:solidFill>
              </a:rPr>
              <a:t>1,729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3246120"/>
            <a:ext cx="4114800" cy="475488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4937760" y="3310128"/>
            <a:ext cx="320040" cy="320040"/>
          </a:xfrm>
          <a:prstGeom prst="ellipse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4937760" y="3310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4924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American Beauty (1999)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38160" y="3337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4B5"/>
                </a:solidFill>
              </a:rPr>
              <a:t>1,723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D"/>
                </a:solidFill>
              </a:rPr>
              <a:t>Derece = Film ile benzerlik bağlantısı olan diğer film sayısı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Personalized PageRank Önerileri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7A"/>
                </a:solidFill>
              </a:rPr>
              <a:t>Seed Filmler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200400" cy="1188720"/>
          </a:xfrm>
          <a:prstGeom prst="roundRect">
            <a:avLst/>
          </a:prstGeom>
          <a:solidFill>
            <a:srgbClr val="1E4E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Toy Story (1995)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Jumanji (1995)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GoldenEye (1995)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3200400" cy="411480"/>
          </a:xfrm>
          <a:prstGeom prst="round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E7A"/>
                </a:solidFill>
              </a:rPr>
              <a:t>Alpha: 0.85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051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7A"/>
                </a:solidFill>
              </a:rPr>
              <a:t>Önerilen Filmler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PPR Skoru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Forrest Gump (1994)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</a:rPr>
                        <a:t>0.004134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Matrix, The (1999)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</a:rPr>
                        <a:t>0.003954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Shawshank Redemption (1994)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</a:rPr>
                        <a:t>0.003906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Pulp Fiction (1994)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</a:rPr>
                        <a:t>0.003883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Star Wars: Episode IV (1977)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</a:rPr>
                        <a:t>0.003815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D"/>
                </a:solidFill>
              </a:rPr>
              <a:t>Seed filmlerden random walk ile ulaşılan en yüksek skorlu filmler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Graf Görselleştirmesi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lides/img_final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05840"/>
            <a:ext cx="768096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3931920"/>
            <a:ext cx="182880" cy="182880"/>
          </a:xfrm>
          <a:prstGeom prst="ellipse">
            <a:avLst/>
          </a:prstGeom>
          <a:solidFill>
            <a:srgbClr val="6B8BB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600200" y="3931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Topluluk 1 (%36)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0" y="3931920"/>
            <a:ext cx="182880" cy="182880"/>
          </a:xfrm>
          <a:prstGeom prst="ellipse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3429000" y="3931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Topluluk 2 (%36)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0" y="3931920"/>
            <a:ext cx="182880" cy="182880"/>
          </a:xfrm>
          <a:prstGeom prst="ellipse">
            <a:avLst/>
          </a:prstGeom>
          <a:solidFill>
            <a:srgbClr val="7AB8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5257800" y="3931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Topluluk 3 (%28)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0" y="39319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D"/>
                </a:solidFill>
              </a:rPr>
              <a:t>Düğüm boyutu = Degree değeri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4B5"/>
                </a:solidFill>
              </a:rPr>
              <a:t>Sonuç ve Değerlendirme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54864"/>
          </a:xfrm>
          <a:prstGeom prst="rect">
            <a:avLst/>
          </a:prstGeom>
          <a:solidFill>
            <a:srgbClr val="2E74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 Elde Edilenler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41148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41148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Bipartite graf ile kullanıcı-film etkileşimleri modellendi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4114800" cy="41148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54864" cy="41148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94360" y="1938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Monopartite projeksiyon ile film benzerlik ağı oluşturuldu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68296"/>
            <a:ext cx="4114800" cy="41148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54864" cy="41148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94360" y="24140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Yüksek kümeleme katsayısı (0.85) güçlü yapı gösteriyor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4114800" cy="41148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54864" cy="41148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94360" y="28895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Small world özelliği (ort. yol: 1.92) tespit edildi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19272"/>
            <a:ext cx="4114800" cy="41148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57200" y="3319272"/>
            <a:ext cx="54864" cy="41148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94360" y="3364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PPR ve Link Prediction ile anlamlı öneriler üretildi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💡 Öğrenilen Dersler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3931920" cy="457200"/>
          </a:xfrm>
          <a:prstGeom prst="round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54864" cy="45720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892040" y="1481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Büyük graflar görselleştirme için optimize edilmeli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947672"/>
            <a:ext cx="3931920" cy="457200"/>
          </a:xfrm>
          <a:prstGeom prst="round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754880" y="1947672"/>
            <a:ext cx="54864" cy="45720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89204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min_common_users eşiği graf yoğunluğunu kontrol eder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478024"/>
            <a:ext cx="3931920" cy="457200"/>
          </a:xfrm>
          <a:prstGeom prst="round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4754880" y="2478024"/>
            <a:ext cx="54864" cy="45720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892040" y="2542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Modularity ile anlamlı topluluklar keşfedilebilir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008376"/>
            <a:ext cx="3931920" cy="457200"/>
          </a:xfrm>
          <a:prstGeom prst="round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4754880" y="3008376"/>
            <a:ext cx="54864" cy="45720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892040" y="30723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</a:rPr>
              <a:t>Graf tabanlı yöntemler öneri sistemleri için güçlü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E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Teşekkürler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657600" y="2468880"/>
            <a:ext cx="1828800" cy="45720"/>
          </a:xfrm>
          <a:prstGeom prst="rect">
            <a:avLst/>
          </a:prstGeom>
          <a:solidFill>
            <a:srgbClr val="5B9B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Sorularınız için hazırım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474720"/>
            <a:ext cx="2103120" cy="731520"/>
          </a:xfrm>
          <a:prstGeom prst="roundRect">
            <a:avLst/>
          </a:prstGeom>
          <a:solidFill>
            <a:srgbClr val="3D6A9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28600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</a:rPr>
              <a:t>Kullanılan Araçlar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• NetworkX • Gephi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3474720"/>
            <a:ext cx="2103120" cy="731520"/>
          </a:xfrm>
          <a:prstGeom prst="roundRect">
            <a:avLst/>
          </a:prstGeom>
          <a:solidFill>
            <a:srgbClr val="3D6A9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75488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</a:rPr>
              <a:t>Veri Seti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3840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MovieLens Small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Microsoft Office PowerPoint</Application>
  <PresentationFormat>Ekran Gösterisi (16:9)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 Tabanlı Film Öneri Sistemi</dc:title>
  <dc:subject>PptxGenJS Presentation</dc:subject>
  <dc:creator>Graph Theory Projesi</dc:creator>
  <cp:lastModifiedBy>Yalım Altunbaş</cp:lastModifiedBy>
  <cp:revision>2</cp:revision>
  <dcterms:created xsi:type="dcterms:W3CDTF">2025-11-30T13:06:45Z</dcterms:created>
  <dcterms:modified xsi:type="dcterms:W3CDTF">2025-11-30T15:09:17Z</dcterms:modified>
</cp:coreProperties>
</file>